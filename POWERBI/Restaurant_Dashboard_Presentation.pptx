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 (AED)</c:v>
                </c:pt>
              </c:strCache>
            </c:strRef>
          </c:tx>
          <c:spPr>
            <a:solidFill>
              <a:srgbClr val="B850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3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Jumeirah</c:v>
                  </c:pt>
                  <c:pt idx="1">
                    <c:v>Deira</c:v>
                  </c:pt>
                  <c:pt idx="2">
                    <c:v>Downtown Dubai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100593.76</c:v>
                </c:pt>
                <c:pt idx="1">
                  <c:v>98161.78</c:v>
                </c:pt>
                <c:pt idx="2">
                  <c:v>97126.11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3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3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D5C6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2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8503F"/>
              </a:solidFill>
              <a:effectLst/>
            </c:spPr>
          </c:dPt>
          <c:dPt>
            <c:idx val="1"/>
            <c:bubble3D val="0"/>
            <c:spPr>
              <a:solidFill>
                <a:srgbClr val="D99A3D"/>
              </a:solidFill>
              <a:effectLst/>
            </c:spPr>
          </c:dPt>
          <c:dPt>
            <c:idx val="2"/>
            <c:bubble3D val="0"/>
            <c:spPr>
              <a:solidFill>
                <a:srgbClr val="6E7D5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Dine-In</c:v>
                </c:pt>
                <c:pt idx="1">
                  <c:v>Delivery</c:v>
                </c:pt>
                <c:pt idx="2">
                  <c:v>Takeaway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106333.62</c:v>
                </c:pt>
                <c:pt idx="1">
                  <c:v>99026.26</c:v>
                </c:pt>
                <c:pt idx="2">
                  <c:v>90521.77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B232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8503F"/>
              </a:solidFill>
              <a:effectLst/>
            </c:spPr>
          </c:dPt>
          <c:dPt>
            <c:idx val="1"/>
            <c:bubble3D val="0"/>
            <c:spPr>
              <a:solidFill>
                <a:srgbClr val="D99A3D"/>
              </a:solidFill>
              <a:effectLst/>
            </c:spPr>
          </c:dPt>
          <c:dPt>
            <c:idx val="2"/>
            <c:bubble3D val="0"/>
            <c:spPr>
              <a:solidFill>
                <a:srgbClr val="6E7D57"/>
              </a:solidFill>
              <a:effectLst/>
            </c:spPr>
          </c:dPt>
          <c:dPt>
            <c:idx val="3"/>
            <c:bubble3D val="0"/>
            <c:spPr>
              <a:solidFill>
                <a:srgbClr val="9C8B7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Card</c:v>
                </c:pt>
                <c:pt idx="1">
                  <c:v>Wallet</c:v>
                </c:pt>
                <c:pt idx="2">
                  <c:v>Online</c:v>
                </c:pt>
                <c:pt idx="3">
                  <c:v>Cash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83471.92</c:v>
                </c:pt>
                <c:pt idx="1">
                  <c:v>75789.67</c:v>
                </c:pt>
                <c:pt idx="2">
                  <c:v>71365.38</c:v>
                </c:pt>
                <c:pt idx="3">
                  <c:v>65254.68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B232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 (AED)</c:v>
                </c:pt>
              </c:strCache>
            </c:strRef>
          </c:tx>
          <c:spPr>
            <a:solidFill>
              <a:srgbClr val="B8503F"/>
            </a:solidFill>
            <a:ln w="31750" cap="flat">
              <a:solidFill>
                <a:srgbClr val="B850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B8503F"/>
              </a:solidFill>
              <a:ln w="9525" cap="flat">
                <a:solidFill>
                  <a:srgbClr val="B850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10AM</c:v>
                  </c:pt>
                  <c:pt idx="1">
                    <c:v>11AM</c:v>
                  </c:pt>
                  <c:pt idx="2">
                    <c:v>12PM</c:v>
                  </c:pt>
                  <c:pt idx="3">
                    <c:v>1PM</c:v>
                  </c:pt>
                  <c:pt idx="4">
                    <c:v>2PM</c:v>
                  </c:pt>
                  <c:pt idx="5">
                    <c:v>3PM</c:v>
                  </c:pt>
                  <c:pt idx="6">
                    <c:v>4PM</c:v>
                  </c:pt>
                  <c:pt idx="7">
                    <c:v>5PM</c:v>
                  </c:pt>
                  <c:pt idx="8">
                    <c:v>6PM</c:v>
                  </c:pt>
                  <c:pt idx="9">
                    <c:v>7PM</c:v>
                  </c:pt>
                  <c:pt idx="10">
                    <c:v>8PM</c:v>
                  </c:pt>
                  <c:pt idx="11">
                    <c:v>9PM</c:v>
                  </c:pt>
                  <c:pt idx="12">
                    <c:v>10PM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24785</c:v>
                </c:pt>
                <c:pt idx="1">
                  <c:v>25345</c:v>
                </c:pt>
                <c:pt idx="2">
                  <c:v>21307</c:v>
                </c:pt>
                <c:pt idx="3">
                  <c:v>22946</c:v>
                </c:pt>
                <c:pt idx="4">
                  <c:v>22064</c:v>
                </c:pt>
                <c:pt idx="5">
                  <c:v>23419</c:v>
                </c:pt>
                <c:pt idx="6">
                  <c:v>20077</c:v>
                </c:pt>
                <c:pt idx="7">
                  <c:v>22367</c:v>
                </c:pt>
                <c:pt idx="8">
                  <c:v>22017</c:v>
                </c:pt>
                <c:pt idx="9">
                  <c:v>23060</c:v>
                </c:pt>
                <c:pt idx="10">
                  <c:v>23003</c:v>
                </c:pt>
                <c:pt idx="11">
                  <c:v>23077</c:v>
                </c:pt>
                <c:pt idx="12">
                  <c:v>22414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62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D5C6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2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 Revenue (AED)</c:v>
                </c:pt>
              </c:strCache>
            </c:strRef>
          </c:tx>
          <c:spPr>
            <a:solidFill>
              <a:srgbClr val="B850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3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Arabic Coffee</c:v>
                  </c:pt>
                  <c:pt idx="1">
                    <c:v>Baklava</c:v>
                  </c:pt>
                  <c:pt idx="2">
                    <c:v>Fresh Lime Mint</c:v>
                  </c:pt>
                  <c:pt idx="3">
                    <c:v>Hummus with Pita</c:v>
                  </c:pt>
                  <c:pt idx="4">
                    <c:v>Kunafa</c:v>
                  </c:pt>
                  <c:pt idx="5">
                    <c:v>Falafel Plate</c:v>
                  </c:pt>
                  <c:pt idx="6">
                    <c:v>Fattoush Salad</c:v>
                  </c:pt>
                  <c:pt idx="7">
                    <c:v>Shawarma</c:v>
                  </c:pt>
                  <c:pt idx="8">
                    <c:v>Chicken Biryani</c:v>
                  </c:pt>
                  <c:pt idx="9">
                    <c:v>Mixed Grill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13296</c:v>
                </c:pt>
                <c:pt idx="1">
                  <c:v>16725</c:v>
                </c:pt>
                <c:pt idx="2">
                  <c:v>18128</c:v>
                </c:pt>
                <c:pt idx="3">
                  <c:v>20718</c:v>
                </c:pt>
                <c:pt idx="4">
                  <c:v>21820</c:v>
                </c:pt>
                <c:pt idx="5">
                  <c:v>25704</c:v>
                </c:pt>
                <c:pt idx="6">
                  <c:v>26004</c:v>
                </c:pt>
                <c:pt idx="7">
                  <c:v>30464</c:v>
                </c:pt>
                <c:pt idx="8">
                  <c:v>36864</c:v>
                </c:pt>
                <c:pt idx="9">
                  <c:v>66105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3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3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D5C6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2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 (AED)</c:v>
                </c:pt>
              </c:strCache>
            </c:strRef>
          </c:tx>
          <c:spPr>
            <a:solidFill>
              <a:srgbClr val="6E7D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3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Westerner</c:v>
                  </c:pt>
                  <c:pt idx="1">
                    <c:v>Indian</c:v>
                  </c:pt>
                  <c:pt idx="2">
                    <c:v>Pakistani</c:v>
                  </c:pt>
                  <c:pt idx="3">
                    <c:v>Bangladeshi</c:v>
                  </c:pt>
                  <c:pt idx="4">
                    <c:v>Emirati</c:v>
                  </c:pt>
                  <c:pt idx="5">
                    <c:v>Arab Expat</c:v>
                  </c:pt>
                  <c:pt idx="6">
                    <c:v>Filipino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38254.47</c:v>
                </c:pt>
                <c:pt idx="1">
                  <c:v>39909.03</c:v>
                </c:pt>
                <c:pt idx="2">
                  <c:v>40323.73</c:v>
                </c:pt>
                <c:pt idx="3">
                  <c:v>43407.94</c:v>
                </c:pt>
                <c:pt idx="4">
                  <c:v>43805.42</c:v>
                </c:pt>
                <c:pt idx="5">
                  <c:v>44628.35</c:v>
                </c:pt>
                <c:pt idx="6">
                  <c:v>45552.71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3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3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D5C6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2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1815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B8503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291840" cy="3291840"/>
          </a:xfrm>
          <a:prstGeom prst="ellipse">
            <a:avLst/>
          </a:prstGeom>
          <a:solidFill>
            <a:srgbClr val="D99A3D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 PERFORMANCE DASHBOARD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1272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Transactions  —  September 2025  |  Power BI Analytics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68680" y="3794760"/>
            <a:ext cx="2011680" cy="0"/>
          </a:xfrm>
          <a:prstGeom prst="line">
            <a:avLst/>
          </a:prstGeom>
          <a:noFill/>
          <a:ln w="31750">
            <a:solidFill>
              <a:srgbClr val="B850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Vinitha Manoj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3708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Analytics Intern — BLUEKWET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257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5760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D8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5257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29000" y="5760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D8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5257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35040" y="5760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D8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41080" y="5257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295.9K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41080" y="5760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D8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1188720" cy="54864"/>
          </a:xfrm>
          <a:prstGeom prst="rect">
            <a:avLst/>
          </a:prstGeom>
          <a:solidFill>
            <a:srgbClr val="B8503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live, interactive Power BI dashboard analyzing a full month of restaurant transactions to uncover sales drivers, channel and payment behavior, menu performance, and customer demographics across branches.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Power BI — a relational data model of 6 tables, 13 DAX measures, and a single interactive report page with slicers for live exploration.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251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6177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single-page Power BI report (.pbix) — 4 KPI cards, 6 charts, and 3 slicers — ready for live, filterable presentation.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5486400" cy="4846320"/>
          </a:xfrm>
          <a:prstGeom prst="roundRect">
            <a:avLst>
              <a:gd name="adj" fmla="val 2264"/>
            </a:avLst>
          </a:prstGeom>
          <a:solidFill>
            <a:srgbClr val="231815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19202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8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month of transaction-level orders — every sale, item, and guest captured individually across 3 Dubai branches.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92240" y="32186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B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91540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8,622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915400" y="32186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B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SERVED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92240" y="3657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92240" y="41330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B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BRANCHES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915400" y="3657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915400" y="41330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B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ITEMS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0" y="4572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492240" y="50474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B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NATIONALITIES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915400" y="4572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915400" y="50474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B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TRACKED (SEP 2025)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Restaurant Performance Dashboard — Sept 2025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1188720" cy="54864"/>
          </a:xfrm>
          <a:prstGeom prst="rect">
            <a:avLst/>
          </a:prstGeom>
          <a:solidFill>
            <a:srgbClr val="B8503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star-schema model in Power BI — one fact table at the center, five supporting dimension tables around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09160" y="28803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B8503F"/>
          </a:solidFill>
          <a:ln/>
        </p:spPr>
      </p:sp>
      <p:sp>
        <p:nvSpPr>
          <p:cNvPr id="6" name="Text 4"/>
          <p:cNvSpPr/>
          <p:nvPr/>
        </p:nvSpPr>
        <p:spPr>
          <a:xfrm>
            <a:off x="470916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09160" y="3319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006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OrderID, OrderDate, TimeKey,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Covers, PaymentType, NetSalesAED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5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13055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BranchID, BranchName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052560" y="169164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5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0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ORDERITEMS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0" y="213055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ItemLineID, Qty,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LineTotalAED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052560" y="457200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5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0" y="46908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0" y="50109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ItemID, ItemName,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BasePriceAED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5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6908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0109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AgeGroup,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Nationality, LoyaltyTier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512064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5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5239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DATEDIM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555955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MonthName,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DayName, IsWeekend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74520" y="2258568"/>
            <a:ext cx="2834640" cy="987552"/>
          </a:xfrm>
          <a:prstGeom prst="line">
            <a:avLst/>
          </a:prstGeom>
          <a:noFill/>
          <a:ln w="15875">
            <a:solidFill>
              <a:srgbClr val="D3BFA8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452360" y="2258568"/>
            <a:ext cx="1600200" cy="987552"/>
          </a:xfrm>
          <a:prstGeom prst="line">
            <a:avLst/>
          </a:prstGeom>
          <a:noFill/>
          <a:ln w="15875">
            <a:solidFill>
              <a:srgbClr val="D3BFA8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7452360" y="3520440"/>
            <a:ext cx="1600200" cy="1618488"/>
          </a:xfrm>
          <a:prstGeom prst="line">
            <a:avLst/>
          </a:prstGeom>
          <a:noFill/>
          <a:ln w="15875">
            <a:solidFill>
              <a:srgbClr val="D3BFA8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874520" y="3520440"/>
            <a:ext cx="2834640" cy="1618488"/>
          </a:xfrm>
          <a:prstGeom prst="line">
            <a:avLst/>
          </a:prstGeom>
          <a:noFill/>
          <a:ln w="15875">
            <a:solidFill>
              <a:srgbClr val="D3BFA8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080760" y="4069080"/>
            <a:ext cx="0" cy="1051560"/>
          </a:xfrm>
          <a:prstGeom prst="line">
            <a:avLst/>
          </a:prstGeom>
          <a:noFill/>
          <a:ln w="15875">
            <a:solidFill>
              <a:srgbClr val="D3BFA8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Restaurant Performance Dashboard — Sept 2025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1188720" cy="54864"/>
          </a:xfrm>
          <a:prstGeom prst="rect">
            <a:avLst/>
          </a:prstGeom>
          <a:solidFill>
            <a:srgbClr val="B8503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94360" cy="594360"/>
          </a:xfrm>
          <a:prstGeom prst="ellipse">
            <a:avLst/>
          </a:prstGeom>
          <a:solidFill>
            <a:srgbClr val="B8503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21488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Orders, OrderItems, Menu, Branch, Customer, and DateDim into Power BI and built relationships into a star schema.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63240" y="1709928"/>
            <a:ext cx="228600" cy="0"/>
          </a:xfrm>
          <a:prstGeom prst="line">
            <a:avLst/>
          </a:prstGeom>
          <a:noFill/>
          <a:ln w="19050">
            <a:solidFill>
              <a:srgbClr val="D3BF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417320"/>
            <a:ext cx="594360" cy="594360"/>
          </a:xfrm>
          <a:prstGeom prst="ellipse">
            <a:avLst/>
          </a:prstGeom>
          <a:solidFill>
            <a:srgbClr val="D99A3D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54680" y="21488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DAX Measures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274320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13 measures — totals, averages, rankings, and time intelligence like MTD sales, running totals, and day-over-day change.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06440" y="1709928"/>
            <a:ext cx="228600" cy="0"/>
          </a:xfrm>
          <a:prstGeom prst="line">
            <a:avLst/>
          </a:prstGeom>
          <a:noFill/>
          <a:ln w="19050">
            <a:solidFill>
              <a:srgbClr val="D3BF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417320"/>
            <a:ext cx="594360" cy="594360"/>
          </a:xfrm>
          <a:prstGeom prst="ellipse">
            <a:avLst/>
          </a:prstGeom>
          <a:solidFill>
            <a:srgbClr val="B8503F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897880" y="21488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Visuals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89320" y="274320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KPI cards, column, pie, donut, and line charts — each bound live to the model, not static images.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49640" y="1709928"/>
            <a:ext cx="228600" cy="0"/>
          </a:xfrm>
          <a:prstGeom prst="line">
            <a:avLst/>
          </a:prstGeom>
          <a:noFill/>
          <a:ln w="19050">
            <a:solidFill>
              <a:srgbClr val="D3BF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1417320"/>
            <a:ext cx="594360" cy="594360"/>
          </a:xfrm>
          <a:prstGeom prst="ellipse">
            <a:avLst/>
          </a:prstGeom>
          <a:solidFill>
            <a:srgbClr val="D99A3D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41080" y="21488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Dashboard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32520" y="274320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every visual with 3 interactive slicers — Branch, Channel, Date — into one live report page.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Restaurant Performance Dashboard — Sept 2025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SEPTEMBER 2025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118872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Shape 2"/>
          <p:cNvSpPr/>
          <p:nvPr/>
        </p:nvSpPr>
        <p:spPr>
          <a:xfrm>
            <a:off x="722376" y="237744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2E241F"/>
          </a:solidFill>
          <a:ln w="12700">
            <a:solidFill>
              <a:srgbClr val="B850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28803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295.9K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59536" y="3657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D8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NET SALES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65576" y="237744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2E241F"/>
          </a:solidFill>
          <a:ln w="12700">
            <a:solidFill>
              <a:srgbClr val="B850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65576" y="28803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02736" y="3657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D8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08776" y="237744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2E241F"/>
          </a:solidFill>
          <a:ln w="12700">
            <a:solidFill>
              <a:srgbClr val="B850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08776" y="28803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8,622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45936" y="3657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D8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COVERS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51976" y="237744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2E241F"/>
          </a:solidFill>
          <a:ln w="12700">
            <a:solidFill>
              <a:srgbClr val="B850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51976" y="28803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34.32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89136" y="3657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D8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 / COVER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8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branches. One month. A complete transaction-level picture of how the restaurant performed.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Restaurant Performance Dashboard — Sept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BY BRANCH &amp; CHANNEL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914400"/>
            <a:ext cx="1188720" cy="54864"/>
          </a:xfrm>
          <a:prstGeom prst="rect">
            <a:avLst/>
          </a:prstGeom>
          <a:solidFill>
            <a:srgbClr val="B8503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 by Branch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1732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5196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nearly identical across all three branches — Jumeirah leads by less than AED 3,500 over the lowest branch.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309360" y="10972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 by Channel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400800" y="1417320"/>
          <a:ext cx="51206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6309360" y="425196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Dine-In leads at 36% of sales, but the three-way split is close — no single channel dominates the business.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Restaurant Performance Dashboard — Sept 2025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MIX &amp; TRADING PATTERN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914400"/>
            <a:ext cx="1188720" cy="54864"/>
          </a:xfrm>
          <a:prstGeom prst="rect">
            <a:avLst/>
          </a:prstGeom>
          <a:solidFill>
            <a:srgbClr val="B8503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 by Payment Type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1732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5196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payments — Card, Wallet, and Online combined — account for roughly 78% of sales.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309360" y="10972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 by Hour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263640" y="141732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6309360" y="425196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double peak — late morning around 10–11 AM, and a steady dinner window from 6–10 PM.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Restaurant Performance Dashboard — Sept 2025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MENU ITEMS BY REVENUE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914400"/>
            <a:ext cx="1188720" cy="54864"/>
          </a:xfrm>
          <a:prstGeom prst="rect">
            <a:avLst/>
          </a:prstGeom>
          <a:solidFill>
            <a:srgbClr val="B8503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Grill alone drives nearly a quarter of all item revenue on the menu.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1124712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Restaurant Performance Dashboard — Sept 2025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BASE BY NATIONALITY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914400"/>
            <a:ext cx="1188720" cy="54864"/>
          </a:xfrm>
          <a:prstGeom prst="rect">
            <a:avLst/>
          </a:prstGeom>
          <a:solidFill>
            <a:srgbClr val="B8503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genuinely multicultural customer base — no single nationality accounts for more than 15% of sales.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1124712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Restaurant Performance Dashboard — Sept 2025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1188720" cy="54864"/>
          </a:xfrm>
          <a:prstGeom prst="rect">
            <a:avLst/>
          </a:prstGeom>
          <a:solidFill>
            <a:srgbClr val="B8503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D5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9047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B8503F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444752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run neck-and-neck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Jumeirah, Deira, and Downtown Dubai each sit within 34%–33% of total sales — no branch is carrying the others.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D5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49047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D99A3D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1444752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channel dominates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192024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Dine-In (36%), Delivery (34%), and Takeaway (31%) are a genuinely balanced three-way split.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D5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18211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B8503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136392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payments have taken over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61188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Card, Wallet, and Online together make up ~78% of sales — cash is now a minority payment method.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301752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D5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318211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D99A3D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3136392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Grill is the standout dish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361188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66,105 in revenue — about 24% of all item sales come from this one dish.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D5C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87375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B8503F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4828032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double-peak trading day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30352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surge at 10–11 AM (brunch) and hold steady through the 6–10 PM dinner window.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470916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D5C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487375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D99A3D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4828032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truly diverse customer base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530352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Filipino, Arab Expat, Emirati, and Bangladeshi guests each contribute close to an even share of sales.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Restaurant Performance Dashboard — Sept 2025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B8503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91840" cy="3291840"/>
          </a:xfrm>
          <a:prstGeom prst="ellipse">
            <a:avLst/>
          </a:prstGeom>
          <a:solidFill>
            <a:srgbClr val="D99A3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4114800"/>
            <a:ext cx="2011680" cy="0"/>
          </a:xfrm>
          <a:prstGeom prst="line">
            <a:avLst/>
          </a:prstGeom>
          <a:noFill/>
          <a:ln w="31750">
            <a:solidFill>
              <a:srgbClr val="B850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Vinitha Manoj  |  Data Science &amp; Analytics Intern, BLUEKWET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2026-08-22T17:34:42Z</dcterms:created>
  <dcterms:modified xsi:type="dcterms:W3CDTF">2026-08-22T17:34:42Z</dcterms:modified>
</cp:coreProperties>
</file>