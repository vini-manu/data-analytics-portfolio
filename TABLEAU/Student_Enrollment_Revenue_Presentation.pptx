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Enrollments</c:v>
                </c:pt>
              </c:strCache>
            </c:strRef>
          </c:tx>
          <c:spPr>
            <a:solidFill>
              <a:srgbClr val="1B2A4A"/>
            </a:solidFill>
            <a:ln w="38100" cap="flat">
              <a:solidFill>
                <a:srgbClr val="1B2A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32B3D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2A4A"/>
              </a:solidFill>
              <a:ln w="9525" cap="flat">
                <a:solidFill>
                  <a:srgbClr val="1B2A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167</c:v>
                </c:pt>
                <c:pt idx="1">
                  <c:v>158</c:v>
                </c:pt>
                <c:pt idx="2">
                  <c:v>146</c:v>
                </c:pt>
                <c:pt idx="3">
                  <c:v>162</c:v>
                </c:pt>
                <c:pt idx="4">
                  <c:v>157</c:v>
                </c:pt>
                <c:pt idx="5">
                  <c:v>154</c:v>
                </c:pt>
                <c:pt idx="6">
                  <c:v>160</c:v>
                </c:pt>
                <c:pt idx="7">
                  <c:v>187</c:v>
                </c:pt>
                <c:pt idx="8">
                  <c:v>185</c:v>
                </c:pt>
                <c:pt idx="9">
                  <c:v>164</c:v>
                </c:pt>
                <c:pt idx="10">
                  <c:v>174</c:v>
                </c:pt>
                <c:pt idx="11">
                  <c:v>186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32B3D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32B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7DEEA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Amount Paid (AED)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32B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Ajman</c:v>
                  </c:pt>
                  <c:pt idx="1">
                    <c:v>Dubai</c:v>
                  </c:pt>
                  <c:pt idx="2">
                    <c:v>Ras Al Khaimah</c:v>
                  </c:pt>
                  <c:pt idx="3">
                    <c:v>Al Ain</c:v>
                  </c:pt>
                  <c:pt idx="4">
                    <c:v>Sharjah</c:v>
                  </c:pt>
                  <c:pt idx="5">
                    <c:v>Abu Dhabi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1421033</c:v>
                </c:pt>
                <c:pt idx="1">
                  <c:v>1444381</c:v>
                </c:pt>
                <c:pt idx="2">
                  <c:v>1488258</c:v>
                </c:pt>
                <c:pt idx="3">
                  <c:v>1564026</c:v>
                </c:pt>
                <c:pt idx="4">
                  <c:v>1576710</c:v>
                </c:pt>
                <c:pt idx="5">
                  <c:v>1648335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32B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32B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D7DEEA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Amount Paid (AED)</c:v>
                </c:pt>
              </c:strCache>
            </c:strRef>
          </c:tx>
          <c:spPr>
            <a:solidFill>
              <a:srgbClr val="C997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32B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Tax</c:v>
                  </c:pt>
                  <c:pt idx="1">
                    <c:v>Logistics</c:v>
                  </c:pt>
                  <c:pt idx="2">
                    <c:v>Programming</c:v>
                  </c:pt>
                  <c:pt idx="3">
                    <c:v>Finance</c:v>
                  </c:pt>
                  <c:pt idx="4">
                    <c:v>Management</c:v>
                  </c:pt>
                  <c:pt idx="5">
                    <c:v>Marketing</c:v>
                  </c:pt>
                  <c:pt idx="6">
                    <c:v>Administration</c:v>
                  </c:pt>
                  <c:pt idx="7">
                    <c:v>Construction</c:v>
                  </c:pt>
                  <c:pt idx="8">
                    <c:v>Analytics</c:v>
                  </c:pt>
                  <c:pt idx="9">
                    <c:v>AI</c:v>
                  </c:pt>
                  <c:pt idx="10">
                    <c:v>IT Security</c:v>
                  </c:pt>
                  <c:pt idx="11">
                    <c:v>ERP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393736</c:v>
                </c:pt>
                <c:pt idx="1">
                  <c:v>492344</c:v>
                </c:pt>
                <c:pt idx="2">
                  <c:v>513322</c:v>
                </c:pt>
                <c:pt idx="3">
                  <c:v>555789</c:v>
                </c:pt>
                <c:pt idx="4">
                  <c:v>567794</c:v>
                </c:pt>
                <c:pt idx="5">
                  <c:v>594293</c:v>
                </c:pt>
                <c:pt idx="6">
                  <c:v>616867</c:v>
                </c:pt>
                <c:pt idx="7">
                  <c:v>651504</c:v>
                </c:pt>
                <c:pt idx="8">
                  <c:v>990565</c:v>
                </c:pt>
                <c:pt idx="9">
                  <c:v>1028315</c:v>
                </c:pt>
                <c:pt idx="10">
                  <c:v>1177143</c:v>
                </c:pt>
                <c:pt idx="11">
                  <c:v>1561071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232B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32B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D7DEEA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Amount Paid (AED)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32B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Bangladesh</c:v>
                  </c:pt>
                  <c:pt idx="1">
                    <c:v>Sri Lanka</c:v>
                  </c:pt>
                  <c:pt idx="2">
                    <c:v>Pakistan</c:v>
                  </c:pt>
                  <c:pt idx="3">
                    <c:v>India</c:v>
                  </c:pt>
                  <c:pt idx="4">
                    <c:v>Egypt</c:v>
                  </c:pt>
                  <c:pt idx="5">
                    <c:v>Jordan</c:v>
                  </c:pt>
                  <c:pt idx="6">
                    <c:v>Nigeria</c:v>
                  </c:pt>
                  <c:pt idx="7">
                    <c:v>Philippines</c:v>
                  </c:pt>
                  <c:pt idx="8">
                    <c:v>Nepal</c:v>
                  </c:pt>
                  <c:pt idx="9">
                    <c:v>UAE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739343</c:v>
                </c:pt>
                <c:pt idx="1">
                  <c:v>755288</c:v>
                </c:pt>
                <c:pt idx="2">
                  <c:v>876087</c:v>
                </c:pt>
                <c:pt idx="3">
                  <c:v>886378</c:v>
                </c:pt>
                <c:pt idx="4">
                  <c:v>941048</c:v>
                </c:pt>
                <c:pt idx="5">
                  <c:v>949729</c:v>
                </c:pt>
                <c:pt idx="6">
                  <c:v>979469</c:v>
                </c:pt>
                <c:pt idx="7">
                  <c:v>991541</c:v>
                </c:pt>
                <c:pt idx="8">
                  <c:v>997087</c:v>
                </c:pt>
                <c:pt idx="9">
                  <c:v>1026773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232B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32B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D7DEEA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Outstanding (AED)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9973E"/>
              </a:solidFill>
              <a:effectLst/>
            </c:spPr>
          </c:dPt>
          <c:dPt>
            <c:idx val="1"/>
            <c:bubble3D val="0"/>
            <c:spPr>
              <a:solidFill>
                <a:srgbClr val="1B2A4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Ongoing</c:v>
                </c:pt>
                <c:pt idx="1">
                  <c:v>Cleared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2485479</c:v>
                </c:pt>
                <c:pt idx="1">
                  <c:v>2295231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32B3D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32B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Sheet1!$A$2:$A$16</c:f>
              <c:multiLvlStrCache>
                <c:ptCount val="15"/>
                <c:lvl>
                  <c:pt idx="0">
                    <c:v>Noura Al Mansoori</c:v>
                  </c:pt>
                  <c:pt idx="1">
                    <c:v>Maria Joseph</c:v>
                  </c:pt>
                  <c:pt idx="2">
                    <c:v>Yusuf Kareem</c:v>
                  </c:pt>
                  <c:pt idx="3">
                    <c:v>Daniel George</c:v>
                  </c:pt>
                  <c:pt idx="4">
                    <c:v>Ahmed Khan</c:v>
                  </c:pt>
                  <c:pt idx="5">
                    <c:v>Lina George</c:v>
                  </c:pt>
                  <c:pt idx="6">
                    <c:v>John Mathew</c:v>
                  </c:pt>
                  <c:pt idx="7">
                    <c:v>Fatima Noor</c:v>
                  </c:pt>
                  <c:pt idx="8">
                    <c:v>Khalid Omar</c:v>
                  </c:pt>
                  <c:pt idx="9">
                    <c:v>Aisha Rahman</c:v>
                  </c:pt>
                  <c:pt idx="10">
                    <c:v>Zain Rahman</c:v>
                  </c:pt>
                  <c:pt idx="11">
                    <c:v>Omar Farooq</c:v>
                  </c:pt>
                  <c:pt idx="12">
                    <c:v>Hassan Ali</c:v>
                  </c:pt>
                  <c:pt idx="13">
                    <c:v>Sara Ahmed</c:v>
                  </c:pt>
                  <c:pt idx="14">
                    <c:v>Ali Hassan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111</c:v>
                </c:pt>
                <c:pt idx="1">
                  <c:v>117</c:v>
                </c:pt>
                <c:pt idx="2">
                  <c:v>121</c:v>
                </c:pt>
                <c:pt idx="3">
                  <c:v>121</c:v>
                </c:pt>
                <c:pt idx="4">
                  <c:v>124</c:v>
                </c:pt>
                <c:pt idx="5">
                  <c:v>125</c:v>
                </c:pt>
                <c:pt idx="6">
                  <c:v>130</c:v>
                </c:pt>
                <c:pt idx="7">
                  <c:v>137</c:v>
                </c:pt>
                <c:pt idx="8">
                  <c:v>139</c:v>
                </c:pt>
                <c:pt idx="9">
                  <c:v>140</c:v>
                </c:pt>
                <c:pt idx="10">
                  <c:v>143</c:v>
                </c:pt>
                <c:pt idx="11">
                  <c:v>143</c:v>
                </c:pt>
                <c:pt idx="12">
                  <c:v>144</c:v>
                </c:pt>
                <c:pt idx="13">
                  <c:v>152</c:v>
                </c:pt>
                <c:pt idx="14">
                  <c:v>153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32B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32B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D7DEEA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C9973E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291840" cy="3291840"/>
          </a:xfrm>
          <a:prstGeom prst="ellipse">
            <a:avLst/>
          </a:prstGeom>
          <a:solidFill>
            <a:srgbClr val="CADCFC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ENROLLMENT &amp; REVENUE ANALYSIS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08152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Performance Dashboard  —  Tableau Analytics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68680" y="3749040"/>
            <a:ext cx="2011680" cy="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977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Vinitha Manoj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432511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Analytics Intern — BLUEKWET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52578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5760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29000" y="52578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29000" y="5760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35040" y="52578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035040" y="5760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CATEGORIES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41080" y="52578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13.9M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641080" y="5760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FEES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60120"/>
            <a:ext cx="118872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3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live Tableau dashboard analyzing a full year of student enrollments to uncover revenue collection, branch and course performance, and instructor workload across the institute.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1546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3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in Tableau — a single enrollment extract, calculated fields for outstanding fees and collection rate, and a 10-worksheet dashboard with a bento-grid layout.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251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461772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3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single-page Tableau workbook (.twbx) — 3 KPI cards, 7 charts, and a packaged data extract — ready for live, filterable presentation.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234440"/>
            <a:ext cx="5486400" cy="4846320"/>
          </a:xfrm>
          <a:prstGeom prst="roundRect">
            <a:avLst>
              <a:gd name="adj" fmla="val 2264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508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192024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year of enrollment records — every student, course, payment, and instructor captured individually across 6 UAE branches.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2743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92240" y="321868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ENROLLED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915400" y="2743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915400" y="321868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BRANCHES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92240" y="3657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92240" y="413308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CATEGORIES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915400" y="36576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915400" y="413308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92240" y="4572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492240" y="504748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NATIONALITIES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915400" y="4572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915400" y="504748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TRACKED (2024)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BLUEKWET Data Analytics Internship  |  Student Enrollment &amp; Revenue Analysis — 2024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AT A GLANCE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60120"/>
            <a:ext cx="118872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wide student-record table, 16 fields, 2,000 rows — organized here by theme for clarity.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09160" y="288036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709160" y="3017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09160" y="33192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rows  |  16 fields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00600" y="36393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enrolled student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0080" y="169164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105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PROFILE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213055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Student_ID, Nationality,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Enrollment_Date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052560" y="169164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52560" y="18105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DETAILS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0" y="213055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Course, Category, Level,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Duration, Learning Time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052560" y="457200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0" y="469087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144000" y="501091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Course_Fee_AED,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Amount_Paid_AED, Status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457200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69087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31520" y="501091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Mode, Branch,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Instructor_Name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9160" y="512064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52395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00600" y="555955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Terms_Completed,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Completion_Status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74520" y="2258568"/>
            <a:ext cx="2834640" cy="987552"/>
          </a:xfrm>
          <a:prstGeom prst="line">
            <a:avLst/>
          </a:prstGeom>
          <a:noFill/>
          <a:ln w="15875">
            <a:solidFill>
              <a:srgbClr val="C3CEE0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7452360" y="2258568"/>
            <a:ext cx="1600200" cy="987552"/>
          </a:xfrm>
          <a:prstGeom prst="line">
            <a:avLst/>
          </a:prstGeom>
          <a:noFill/>
          <a:ln w="15875">
            <a:solidFill>
              <a:srgbClr val="C3CEE0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7452360" y="3520440"/>
            <a:ext cx="1600200" cy="1618488"/>
          </a:xfrm>
          <a:prstGeom prst="line">
            <a:avLst/>
          </a:prstGeom>
          <a:noFill/>
          <a:ln w="15875">
            <a:solidFill>
              <a:srgbClr val="C3CEE0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1874520" y="3520440"/>
            <a:ext cx="2834640" cy="1618488"/>
          </a:xfrm>
          <a:prstGeom prst="line">
            <a:avLst/>
          </a:prstGeom>
          <a:noFill/>
          <a:ln w="15875">
            <a:solidFill>
              <a:srgbClr val="C3CEE0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6080760" y="4069080"/>
            <a:ext cx="0" cy="1051560"/>
          </a:xfrm>
          <a:prstGeom prst="line">
            <a:avLst/>
          </a:prstGeom>
          <a:noFill/>
          <a:ln w="15875">
            <a:solidFill>
              <a:srgbClr val="C3CEE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BLUEKWET Data Analytics Internship  |  Student Enrollment &amp; Revenue Analysis — 2024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60120"/>
            <a:ext cx="118872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594360" cy="5943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21488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Extract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743200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a 2,000-row student enrollment extract into Tableau, covering course, financial, and demographic fields.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63240" y="1709928"/>
            <a:ext cx="228600" cy="0"/>
          </a:xfrm>
          <a:prstGeom prst="line">
            <a:avLst/>
          </a:prstGeom>
          <a:noFill/>
          <a:ln w="19050">
            <a:solidFill>
              <a:srgbClr val="C3CE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417320"/>
            <a:ext cx="594360" cy="594360"/>
          </a:xfrm>
          <a:prstGeom prst="ellipse">
            <a:avLst/>
          </a:prstGeom>
          <a:solidFill>
            <a:srgbClr val="C9973E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417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154680" y="21488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Calculated Fields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46120" y="2743200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fields for Outstanding Fees, Collection Rate, and completion flags to power the KPI cards.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06440" y="1709928"/>
            <a:ext cx="228600" cy="0"/>
          </a:xfrm>
          <a:prstGeom prst="line">
            <a:avLst/>
          </a:prstGeom>
          <a:noFill/>
          <a:ln w="19050">
            <a:solidFill>
              <a:srgbClr val="C3CE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417320"/>
            <a:ext cx="594360" cy="5943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1417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897880" y="21488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Worksheets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89320" y="2743200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10 worksheets — KPI cards, a trend line, and bar charts — each linked live to the extract.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549640" y="1709928"/>
            <a:ext cx="228600" cy="0"/>
          </a:xfrm>
          <a:prstGeom prst="line">
            <a:avLst/>
          </a:prstGeom>
          <a:noFill/>
          <a:ln w="19050">
            <a:solidFill>
              <a:srgbClr val="C3CE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0" y="1417320"/>
            <a:ext cx="594360" cy="594360"/>
          </a:xfrm>
          <a:prstGeom prst="ellipse">
            <a:avLst/>
          </a:prstGeom>
          <a:solidFill>
            <a:srgbClr val="C9973E"/>
          </a:solidFill>
          <a:ln/>
        </p:spPr>
      </p:sp>
      <p:sp>
        <p:nvSpPr>
          <p:cNvPr id="20" name="Text 18"/>
          <p:cNvSpPr/>
          <p:nvPr/>
        </p:nvSpPr>
        <p:spPr>
          <a:xfrm>
            <a:off x="8778240" y="1417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41080" y="21488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Dashboard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732520" y="2743200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every worksheet into one interactive Dashboard tab with a bento-grid layout.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BLUEKWET Data Analytics Internship  |  Student Enrollment &amp; Revenue Analysis — 2024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 AT A GLANCE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1188720" cy="54864"/>
          </a:xfrm>
          <a:prstGeom prst="rect">
            <a:avLst/>
          </a:prstGeom>
          <a:solidFill>
            <a:srgbClr val="C9973E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96596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24365C"/>
          </a:solidFill>
          <a:ln w="12700">
            <a:solidFill>
              <a:srgbClr val="C997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37744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13.9M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COURSE FEES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34840" y="196596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24365C"/>
          </a:solidFill>
          <a:ln w="12700">
            <a:solidFill>
              <a:srgbClr val="C997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4840" y="237744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9.14M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572000" y="31089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AMOUNT PAID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83880" y="196596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24365C"/>
          </a:solidFill>
          <a:ln w="12700">
            <a:solidFill>
              <a:srgbClr val="C997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3880" y="237744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4.78M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8321040" y="31089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FEES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41148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24365C"/>
          </a:solidFill>
          <a:ln w="12700">
            <a:solidFill>
              <a:srgbClr val="C997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52628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65.7%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822960" y="52578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RATE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34840" y="41148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24365C"/>
          </a:solidFill>
          <a:ln w="12700">
            <a:solidFill>
              <a:srgbClr val="C997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452628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4572000" y="52578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ENROLLED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83880" y="411480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24365C"/>
          </a:solidFill>
          <a:ln w="12700">
            <a:solidFill>
              <a:srgbClr val="C997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3880" y="452628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49.7%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8321040" y="52578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BLUEKWET Data Analytics Internship  |  Student Enrollment &amp; Revenue Analysis — 2024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ENROLLMENT TREND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914400"/>
            <a:ext cx="118872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enrollments held steady through the year, with a late-summer and year-end lift.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508760"/>
          <a:ext cx="112471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BLUEKWET Data Analytics Internship  |  Student Enrollment &amp; Revenue Analysis — 2024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BRANCH &amp; CATEGORY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914400"/>
            <a:ext cx="118872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Paid by Branch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17320"/>
          <a:ext cx="548640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43484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branches contribute close to an even share — Abu Dhabi leads narrowly at AED 1.65M.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309360" y="10972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Paid by Course Category</a:t>
            </a:r>
            <a:endParaRPr lang="en-US" sz="13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263640" y="1417320"/>
          <a:ext cx="548640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6309360" y="443484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and IT Security are the top-earning categories — together over AED 2.7M of the AED 9.14M collected.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BLUEKWET Data Analytics Internship  |  Student Enrollment &amp; Revenue Analysis — 2024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NATIONALITY MIX &amp; OUTSTANDING FEES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914400"/>
            <a:ext cx="118872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Paid by Nationality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17320"/>
          <a:ext cx="548640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43484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genuinely diverse student body across 10 nationalities — UAE nationals contribute the largest single share, closely followed by Nepal and the Philippines.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309360" y="10972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Fees by Payment Status</a:t>
            </a:r>
            <a:endParaRPr lang="en-US" sz="13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766560" y="1463040"/>
          <a:ext cx="45720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6309360" y="443484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4.78M in fees remains outstanding — split almost evenly regardless of a student's payment status.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BLUEKWET Data Analytics Internship  |  Student Enrollment &amp; Revenue Analysis — 2024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ENROLLMENTS BY INSTRUCTOR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914400"/>
            <a:ext cx="118872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is well distributed across all 15 instructors — Ali Hassan carries the highest caseload at 153 students.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508760"/>
          <a:ext cx="112471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BLUEKWET Data Analytics Internship  |  Student Enrollment &amp; Revenue Analysis — 2024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960120"/>
            <a:ext cx="118872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2588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90472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444752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rate sits at 65.7%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AED 13.9M in total course fees, AED 9.14M has been collected — AED 4.78M remains outstanding.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0" y="132588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490472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C9973E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1444752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are evenly matched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192024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UAE branches sit within a tight AED 1.42M–1.65M band — no single branch dominates revenue.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182112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3136392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and IT Security lead the mix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361188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categories alone account for over AED 2.7M of total revenue collected.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301752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3182112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C9973E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3136392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sits just under 50%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361188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49.7% of enrolled students have completed their course — the rest remain ongoing.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873752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1188720" y="4828032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fees cut across status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530352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AED 4.78M outstanding splits nearly evenly between Ongoing and Cleared-status students.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4709160"/>
            <a:ext cx="5349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4873752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C9973E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4828032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genuinely diverse student body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46520" y="5303520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nationalities are represented, with UAE, Nepal, and the Philippines contributing the largest shares.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BLUEKWET Data Analytics Internship  |  Student Enrollment &amp; Revenue Analysis — 2024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C9973E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291840" cy="3291840"/>
          </a:xfrm>
          <a:prstGeom prst="ellipse">
            <a:avLst/>
          </a:prstGeom>
          <a:solidFill>
            <a:srgbClr val="CADCFC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4114800"/>
            <a:ext cx="2011680" cy="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Vinitha Manoj  |  Data Science &amp; Analytics Intern, BLUEKWET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2026-08-22T17:49:47Z</dcterms:created>
  <dcterms:modified xsi:type="dcterms:W3CDTF">2026-08-22T17:49:47Z</dcterms:modified>
</cp:coreProperties>
</file>