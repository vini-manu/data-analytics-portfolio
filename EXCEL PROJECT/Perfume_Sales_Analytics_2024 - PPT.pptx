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19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75A-4A79-A28B-DD1A58BFF3AB}"/>
              </c:ext>
            </c:extLst>
          </c:dPt>
          <c:dPt>
            <c:idx val="1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75A-4A79-A28B-DD1A58BFF3AB}"/>
              </c:ext>
            </c:extLst>
          </c:dPt>
          <c:dPt>
            <c:idx val="2"/>
            <c:bubble3D val="0"/>
            <c:spPr>
              <a:solidFill>
                <a:srgbClr val="9C7B9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75A-4A79-A28B-DD1A58BFF3A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75A-4A79-A28B-DD1A58BFF3A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75A-4A79-A28B-DD1A58BFF3A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75A-4A79-A28B-DD1A58BFF3A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Card</c:v>
                </c:pt>
                <c:pt idx="1">
                  <c:v>Cash</c:v>
                </c:pt>
                <c:pt idx="2">
                  <c:v>Digital Wallet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59786486</c:v>
                </c:pt>
                <c:pt idx="1">
                  <c:v>27272412</c:v>
                </c:pt>
                <c:pt idx="2">
                  <c:v>21582918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75A-4A79-A28B-DD1A58BFF3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142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(AED)</c:v>
                </c:pt>
              </c:strCache>
            </c:strRef>
          </c:tx>
          <c:spPr>
            <a:solidFill>
              <a:srgbClr val="4A1942"/>
            </a:solidFill>
            <a:effectLst/>
          </c:spPr>
          <c:invertIfNegative val="0"/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B14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Ajmal</c:v>
                </c:pt>
                <c:pt idx="1">
                  <c:v>Dior Sauvage</c:v>
                </c:pt>
                <c:pt idx="2">
                  <c:v>Armani Code</c:v>
                </c:pt>
                <c:pt idx="3">
                  <c:v>Chanel Bleu</c:v>
                </c:pt>
                <c:pt idx="4">
                  <c:v>Davidoff Cool Water</c:v>
                </c:pt>
                <c:pt idx="5">
                  <c:v>Rasasi</c:v>
                </c:pt>
                <c:pt idx="6">
                  <c:v>Swiss Arabian</c:v>
                </c:pt>
                <c:pt idx="7">
                  <c:v>Oudh Al Anfar</c:v>
                </c:pt>
                <c:pt idx="8">
                  <c:v>Calvin Klein One</c:v>
                </c:pt>
                <c:pt idx="9">
                  <c:v>Generic Local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16112804</c:v>
                </c:pt>
                <c:pt idx="1">
                  <c:v>14950707</c:v>
                </c:pt>
                <c:pt idx="2">
                  <c:v>14495897</c:v>
                </c:pt>
                <c:pt idx="3">
                  <c:v>13676435</c:v>
                </c:pt>
                <c:pt idx="4">
                  <c:v>10563787</c:v>
                </c:pt>
                <c:pt idx="5">
                  <c:v>11122881</c:v>
                </c:pt>
                <c:pt idx="6">
                  <c:v>9462392</c:v>
                </c:pt>
                <c:pt idx="7">
                  <c:v>5947370</c:v>
                </c:pt>
                <c:pt idx="8">
                  <c:v>8711658</c:v>
                </c:pt>
                <c:pt idx="9">
                  <c:v>3597885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F2-427B-BA60-BFA5D370A2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142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D6C9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C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19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477-492A-9E62-BF2EC2A4FDDF}"/>
              </c:ext>
            </c:extLst>
          </c:dPt>
          <c:dPt>
            <c:idx val="1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77-492A-9E62-BF2EC2A4FDD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477-492A-9E62-BF2EC2A4FDD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477-492A-9E62-BF2EC2A4FDD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International</c:v>
                </c:pt>
                <c:pt idx="1">
                  <c:v>Local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62398484</c:v>
                </c:pt>
                <c:pt idx="1">
                  <c:v>46243332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477-492A-9E62-BF2EC2A4FD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142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(AED)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B14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Tilal</c:v>
                </c:pt>
                <c:pt idx="1">
                  <c:v>West Zone</c:v>
                </c:pt>
                <c:pt idx="2">
                  <c:v>Safari</c:v>
                </c:pt>
                <c:pt idx="3">
                  <c:v>Madeena</c:v>
                </c:pt>
                <c:pt idx="4">
                  <c:v>Nesto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20169514</c:v>
                </c:pt>
                <c:pt idx="1">
                  <c:v>20224826</c:v>
                </c:pt>
                <c:pt idx="2">
                  <c:v>21840323</c:v>
                </c:pt>
                <c:pt idx="3">
                  <c:v>22781032</c:v>
                </c:pt>
                <c:pt idx="4">
                  <c:v>23626120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7B-4FEB-AA25-46EAFC765D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142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D6C9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C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(AED)</c:v>
                </c:pt>
              </c:strCache>
            </c:strRef>
          </c:tx>
          <c:spPr>
            <a:ln w="31750" cap="flat">
              <a:solidFill>
                <a:srgbClr val="4A194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4A1942"/>
              </a:solidFill>
              <a:ln w="9525" cap="flat">
                <a:solidFill>
                  <a:srgbClr val="4A1942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9459377</c:v>
                </c:pt>
                <c:pt idx="1">
                  <c:v>8480634</c:v>
                </c:pt>
                <c:pt idx="2">
                  <c:v>9087596</c:v>
                </c:pt>
                <c:pt idx="3">
                  <c:v>8555984</c:v>
                </c:pt>
                <c:pt idx="4">
                  <c:v>9099161</c:v>
                </c:pt>
                <c:pt idx="5">
                  <c:v>8915833</c:v>
                </c:pt>
                <c:pt idx="6">
                  <c:v>9061869</c:v>
                </c:pt>
                <c:pt idx="7">
                  <c:v>9180616</c:v>
                </c:pt>
                <c:pt idx="8">
                  <c:v>8679419</c:v>
                </c:pt>
                <c:pt idx="9">
                  <c:v>9078528</c:v>
                </c:pt>
                <c:pt idx="10">
                  <c:v>9343823</c:v>
                </c:pt>
                <c:pt idx="11">
                  <c:v>9698976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35-4586-A0CA-73EE644353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(AED)</c:v>
                </c:pt>
              </c:strCache>
            </c:strRef>
          </c:tx>
          <c:spPr>
            <a:ln w="31750" cap="flat">
              <a:solidFill>
                <a:srgbClr val="C9A22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2849344</c:v>
                </c:pt>
                <c:pt idx="1">
                  <c:v>2555122</c:v>
                </c:pt>
                <c:pt idx="2">
                  <c:v>2728932</c:v>
                </c:pt>
                <c:pt idx="3">
                  <c:v>2581149</c:v>
                </c:pt>
                <c:pt idx="4">
                  <c:v>2739686</c:v>
                </c:pt>
                <c:pt idx="5">
                  <c:v>2686342</c:v>
                </c:pt>
                <c:pt idx="6">
                  <c:v>2725054</c:v>
                </c:pt>
                <c:pt idx="7">
                  <c:v>2764022</c:v>
                </c:pt>
                <c:pt idx="8">
                  <c:v>2619462</c:v>
                </c:pt>
                <c:pt idx="9">
                  <c:v>2731562</c:v>
                </c:pt>
                <c:pt idx="10">
                  <c:v>2810044</c:v>
                </c:pt>
                <c:pt idx="11">
                  <c:v>2917507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F35-4586-A0CA-73EE64435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142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D6C9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C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142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831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4A194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-457200"/>
            <a:ext cx="2377440" cy="2377440"/>
          </a:xfrm>
          <a:prstGeom prst="ellipse">
            <a:avLst/>
          </a:prstGeom>
          <a:solidFill>
            <a:srgbClr val="C9A22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4A194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PERFUME RETAIL SALES ANALYTICS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Performance Dashboard  —  Excel Analytics Project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Vinitha Manoj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Analytics Intern — BLUEKWET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5943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392,795 transactions  |  5 branches  |  10 brands  |  Jan–Dec 2024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12801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2893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188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490472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 full year of perfume retail transactions to uncover revenue drivers, profitability, and channel performance across branches and brands.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5237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724912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transaction-level fact table covering every sale made in 2024, across 5 UAE branches and 10 fragrance brands.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75818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657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959352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Excel — raw data cleaned and structured, then summarized through PivotTables, PivotCharts, and a KPI dashboard.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99262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5193792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three-tab workbook: Master Data, Pivot Table &amp; Chart analysis, and an interactive Dashboard with slicers.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37160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4A1942"/>
          </a:solidFill>
          <a:ln/>
          <a:effectLst>
            <a:outerShdw blurRad="76200" dist="25400" dir="5400000" algn="bl" rotWithShape="0">
              <a:srgbClr val="2E0F2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20840" y="1536192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392,795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20840" y="2240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6C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72600" y="137160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4A1942"/>
          </a:solidFill>
          <a:ln/>
          <a:effectLst>
            <a:outerShdw blurRad="76200" dist="25400" dir="5400000" algn="bl" rotWithShape="0">
              <a:srgbClr val="2E0F2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72600" y="1536192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372600" y="2240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6C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20840" y="301752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4A1942"/>
          </a:solidFill>
          <a:ln/>
          <a:effectLst>
            <a:outerShdw blurRad="76200" dist="25400" dir="5400000" algn="bl" rotWithShape="0">
              <a:srgbClr val="2E0F2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20840" y="3182112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720840" y="3886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6C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372600" y="301752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4A1942"/>
          </a:solidFill>
          <a:ln/>
          <a:effectLst>
            <a:outerShdw blurRad="76200" dist="25400" dir="5400000" algn="bl" rotWithShape="0">
              <a:srgbClr val="2E0F2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372600" y="3182112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372600" y="3886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6C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Tracked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20840" y="480060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9440" y="4910328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branch, brand, and payment method is captured at the individual-sale level — nothing pre-aggregated.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Perfume Retail Sales Analytics 2024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12801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style structure inside a single Master Data sheet — 28 fields describing every transaction.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37760" y="274320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4A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0" y="29077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 TABLE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transaction_id, quantity, unit_price,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net_amount_aed, profit, profit_margin_pct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5EEE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98424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branch_location, region,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branch_name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052560" y="160020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5EEE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5256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0" y="198424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brand_id, Brand_name,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Category, bottle_size_id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5EEE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59028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payment_method_id,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52560" y="42062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5EEE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52560" y="4297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459028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date_key, Date,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time_of_day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0" y="2148840"/>
            <a:ext cx="2011680" cy="91440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H="1">
            <a:off x="7223760" y="2148840"/>
            <a:ext cx="1828800" cy="91440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26080" y="4206240"/>
            <a:ext cx="201168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flipH="1">
            <a:off x="7223760" y="4206240"/>
            <a:ext cx="182880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Perfume Retail Sales Analytics 2024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12801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D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4A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392,795 raw rows into a single Master Data table with consistent keys for branch, brand, payment, and time.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D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11880" y="21031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4A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1188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9718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PivotTables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3520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six PivotTables — by payment method, brand, region, branch, month, and channel — each with Sum of net_amount_aed.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D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46520" y="21031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4A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29718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PivotCharts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3520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every PivotTable with a chart (pie, bar, line) to make trends and shares immediately readable.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D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81160" y="21031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4A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8116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81160" y="29718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 Dashboard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81160" y="3520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KPI cards, charts, and slicers into one interactive Dashboard tab for at-a-glance exploration.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Perfume Retail Sales Analytics 2024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12801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4A1942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196596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108.6M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794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92024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4A1942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49040" y="2240280"/>
            <a:ext cx="196596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27432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32.7M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66160" y="3794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4A1942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29400" y="2240280"/>
            <a:ext cx="196596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30.11%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46520" y="3794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Profit Margin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89720" y="192024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4A1942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09760" y="2240280"/>
            <a:ext cx="196596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81160" y="27432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392,795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26880" y="3794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Processed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Perfume Retail Sales Analytics 2024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PAYMENT METHOD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12801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280160"/>
          <a:ext cx="576072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85800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payments dominate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0" y="20574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half of all revenue (55%) flows through card transactions, reflecting strong adoption of contactless and in-store card payments across branches.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858000" y="320040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5E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040880" y="3200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0" y="32004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59.8M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241280" y="32004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0" y="3913632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5E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040880" y="39136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778240" y="391363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27.3M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241280" y="3913632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0" y="4626864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5E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040880" y="46268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778240" y="4626864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21.6M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241280" y="4626864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Perfume Retail Sales Analytics 2024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BRAND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12801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Ajmal leads the portfolio, followed closely by Dior Sauvage and Armani Code.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54480"/>
          <a:ext cx="112471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Perfume Retail Sales Analytics 2024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MIX &amp; BRANCH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12801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vs Local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00200"/>
          <a:ext cx="53035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Branch</a:t>
            </a:r>
            <a:endParaRPr lang="en-US" sz="15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217920" y="1600200"/>
          <a:ext cx="53949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Perfume Retail Sales Analytics 2024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A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&amp; PROFIT TREND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12801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stayed remarkably steady year-round — profit margin held at ~30% every single month.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54480"/>
          <a:ext cx="112471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Perfume Retail Sales Analytics 2024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12801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4A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is 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of revenue runs through card payments — digital wallet adoption (20%) is the fastest area to grow.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4A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508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Ajmal leads the shelf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90195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Ajmal (AED 16.1M) and Dior Sauvage (AED 15.0M) are the top two revenue-generating brands.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4A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Margins are rock-steady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50215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holds at ~30% in every single month — pricing and cost discipline are consistent year-round.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9718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4A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3108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edges local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50215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fragrances bring in 57% of revenue vs. 43% for local brands — a fairly  balanced mix.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4A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709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Nesto is the top branch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10235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 (AED 23.6M) and Madeena (AED 22.8M) outperform the other three branches.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5720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4A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4709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Slight Q4 lift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510235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ticks up in Nov–Dec, consistent with holiday and year-end shopping season.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Perfume Retail Sales Analytics 2024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4A194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4A194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Vinitha Manoj  |  Data Science &amp; Analytics Intern, BLUEKWET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736</Words>
  <Application>Microsoft Office PowerPoint</Application>
  <PresentationFormat>Widescreen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vinitha manoj</cp:lastModifiedBy>
  <cp:revision>3</cp:revision>
  <dcterms:created xsi:type="dcterms:W3CDTF">2026-08-19T15:57:53Z</dcterms:created>
  <dcterms:modified xsi:type="dcterms:W3CDTF">2026-08-22T08:55:27Z</dcterms:modified>
</cp:coreProperties>
</file>